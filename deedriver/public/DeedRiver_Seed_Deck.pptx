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4"/>
    <p:restoredTop sz="94610"/>
  </p:normalViewPr>
  <p:slideViewPr>
    <p:cSldViewPr snapToGrid="0" snapToObjects="1">
      <p:cViewPr varScale="1">
        <p:scale>
          <a:sx n="189" d="100"/>
          <a:sy n="189" d="100"/>
        </p:scale>
        <p:origin x="176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AUM ($M)</c:v>
                </c:pt>
              </c:strCache>
            </c:strRef>
          </c:tx>
          <c:spPr>
            <a:solidFill>
              <a:srgbClr val="1E5F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5F4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  <c:pt idx="5">
                  <c:v>Y6</c:v>
                </c:pt>
                <c:pt idx="6">
                  <c:v>Y7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1.8</c:v>
                </c:pt>
                <c:pt idx="1">
                  <c:v>13</c:v>
                </c:pt>
                <c:pt idx="2">
                  <c:v>63</c:v>
                </c:pt>
                <c:pt idx="3">
                  <c:v>204.5</c:v>
                </c:pt>
                <c:pt idx="4">
                  <c:v>467.3</c:v>
                </c:pt>
                <c:pt idx="5">
                  <c:v>932.1</c:v>
                </c:pt>
                <c:pt idx="6">
                  <c:v>1657.1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3-2B41-B8C6-3535D9976E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B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BF9"/>
    </a:solidFill>
    <a:ln w="12700" cap="flat">
      <a:solidFill>
        <a:srgbClr val="FAFBF9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10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9144000" cy="342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0624"/>
            <a:ext cx="32918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384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DeedRiver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383280" y="457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Wyoming-Incorporated  ·  Reg D 506(c)  ·  Built by operators who scaled $0 → $5B AUM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2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estate.</a:t>
            </a:r>
            <a:endParaRPr lang="en-US" sz="5600" dirty="0"/>
          </a:p>
        </p:txBody>
      </p:sp>
      <p:sp>
        <p:nvSpPr>
          <p:cNvPr id="7" name="Text 3"/>
          <p:cNvSpPr/>
          <p:nvPr/>
        </p:nvSpPr>
        <p:spPr>
          <a:xfrm>
            <a:off x="457200" y="16276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kern="0" spc="-2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Tokenized.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561278" y="2235709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tokenization platform converting income-producing real estate into DEED tokens — fractional ownership, institutional yield, compliant secondary transfer.</a:t>
            </a:r>
            <a:endParaRPr lang="en-US" sz="1100" dirty="0">
              <a:solidFill>
                <a:srgbClr val="0F4030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Confidential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P R O B L E 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largest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class is broken.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01168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Illiquid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330×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trading volume vs. public markets. $2.9T raised; $0.1T traded.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2888" y="2194560"/>
            <a:ext cx="201168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1" name="Text 9"/>
          <p:cNvSpPr/>
          <p:nvPr/>
        </p:nvSpPr>
        <p:spPr>
          <a:xfrm>
            <a:off x="2532888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Inefficient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532888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$54B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532888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clearing &amp; settlement costs. 6–12 month transaction cycles.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2194560"/>
            <a:ext cx="201168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Inaccessible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08576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08576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institutional-grade real estate locked behind $1M+ minimums.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84264" y="2194560"/>
            <a:ext cx="201168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9" name="Text 17"/>
          <p:cNvSpPr/>
          <p:nvPr/>
        </p:nvSpPr>
        <p:spPr>
          <a:xfrm>
            <a:off x="6684264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84264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684264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platforms unifying supply-side and demand-side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82296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problems. One integrated solution.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S O L U T I O 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integrated layers.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unified platform.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E8F2E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128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2221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LAYER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Tokenization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digitization &amp; DEED minting. Smart-contract issuance. Multi-jurisdiction compliance across asset classes.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E8F2E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153F3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27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153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31363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544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Intelligence 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3154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deal sourcing &amp; matching. Automated KYC / AML. Investor risk profiling &amp; scoring. Predictive valuation.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8F2E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0F403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41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0F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554480" y="4050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LAYER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DEX Marketplace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token trading on-chain. Real-time price discovery. Compliant secondary transfer with institutional custody.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intelligence layer connects all three.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P R O D U C 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real estate tokenization.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62856" y="2011680"/>
            <a:ext cx="10973" cy="1280160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11680"/>
            <a:ext cx="39776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134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property owners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acquisition &amp; legal structuring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tokenization &amp; smart-contract issuance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formation — weeks, not 18–24 months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39776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1031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23134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global investors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ownership — accessible entry points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market liquidity via DEX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securities registration &amp; institutional custody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PROFILE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03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return drivers, stacked.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3886200"/>
            <a:ext cx="1249680" cy="384048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886200"/>
            <a:ext cx="124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7440" y="3886200"/>
            <a:ext cx="1249680" cy="384048"/>
          </a:xfrm>
          <a:prstGeom prst="rect">
            <a:avLst/>
          </a:prstGeom>
          <a:solidFill>
            <a:srgbClr val="153F35"/>
          </a:solidFill>
          <a:ln/>
        </p:spPr>
      </p:sp>
      <p:sp>
        <p:nvSpPr>
          <p:cNvPr id="21" name="Text 19"/>
          <p:cNvSpPr/>
          <p:nvPr/>
        </p:nvSpPr>
        <p:spPr>
          <a:xfrm>
            <a:off x="6187440" y="3886200"/>
            <a:ext cx="124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37120" y="3886200"/>
            <a:ext cx="1249680" cy="384048"/>
          </a:xfrm>
          <a:prstGeom prst="rect">
            <a:avLst/>
          </a:prstGeom>
          <a:solidFill>
            <a:srgbClr val="0F4030"/>
          </a:solidFill>
          <a:ln/>
        </p:spPr>
      </p:sp>
      <p:sp>
        <p:nvSpPr>
          <p:cNvPr id="23" name="Text 21"/>
          <p:cNvSpPr/>
          <p:nvPr/>
        </p:nvSpPr>
        <p:spPr>
          <a:xfrm>
            <a:off x="7437120" y="3886200"/>
            <a:ext cx="124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343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 18–24% Total Target ROI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4690872"/>
            <a:ext cx="91440" cy="91440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26" name="Text 24"/>
          <p:cNvSpPr/>
          <p:nvPr/>
        </p:nvSpPr>
        <p:spPr>
          <a:xfrm>
            <a:off x="5157216" y="4654296"/>
            <a:ext cx="101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Income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78880" y="4690872"/>
            <a:ext cx="91440" cy="91440"/>
          </a:xfrm>
          <a:prstGeom prst="rect">
            <a:avLst/>
          </a:prstGeom>
          <a:solidFill>
            <a:srgbClr val="153F3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6896" y="4654296"/>
            <a:ext cx="101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Appreciation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28560" y="4690872"/>
            <a:ext cx="91440" cy="91440"/>
          </a:xfrm>
          <a:prstGeom prst="rect">
            <a:avLst/>
          </a:prstGeom>
          <a:solidFill>
            <a:srgbClr val="0F4030"/>
          </a:solidFill>
          <a:ln/>
        </p:spPr>
      </p:sp>
      <p:sp>
        <p:nvSpPr>
          <p:cNvPr id="30" name="Text 28"/>
          <p:cNvSpPr/>
          <p:nvPr/>
        </p:nvSpPr>
        <p:spPr>
          <a:xfrm>
            <a:off x="7656576" y="4654296"/>
            <a:ext cx="101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Liquidity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income — annual cash yield from property operations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 — capital growth as property value rises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— institutional ROI uplift from tradable on-chain transfer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Multi-jurisdiction coverage — Wyoming, MENA, UK, EU, Asia-Pacific.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O W   I T   W O R K 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to portfolio.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2999232"/>
            <a:ext cx="6949440" cy="18288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606040"/>
            <a:ext cx="822960" cy="822960"/>
          </a:xfrm>
          <a:prstGeom prst="ellipse">
            <a:avLst/>
          </a:prstGeom>
          <a:solidFill>
            <a:srgbClr val="FAFBF9"/>
          </a:solidFill>
          <a:ln w="25400">
            <a:solidFill>
              <a:srgbClr val="1E5F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834640"/>
            <a:ext cx="365760" cy="365760"/>
          </a:xfrm>
          <a:prstGeom prst="ellipse">
            <a:avLst/>
          </a:prstGeom>
          <a:solidFill>
            <a:srgbClr val="1E5F4E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-5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sources and qualifies properties globally. Automated KYC, underwriting, and compliance scoring.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606040"/>
            <a:ext cx="822960" cy="822960"/>
          </a:xfrm>
          <a:prstGeom prst="ellipse">
            <a:avLst/>
          </a:prstGeom>
          <a:solidFill>
            <a:srgbClr val="FAFBF9"/>
          </a:solidFill>
          <a:ln w="25400">
            <a:solidFill>
              <a:srgbClr val="1E5F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834640"/>
            <a:ext cx="365760" cy="365760"/>
          </a:xfrm>
          <a:prstGeom prst="ellipse">
            <a:avLst/>
          </a:prstGeom>
          <a:solidFill>
            <a:srgbClr val="1E5F4E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-5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4041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minted as DEED tokens. Smart contracts handle issuance, escrow, and multi-jurisdiction compliance.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2606040"/>
            <a:ext cx="822960" cy="822960"/>
          </a:xfrm>
          <a:prstGeom prst="ellipse">
            <a:avLst/>
          </a:prstGeom>
          <a:solidFill>
            <a:srgbClr val="FAFBF9"/>
          </a:solidFill>
          <a:ln w="25400">
            <a:solidFill>
              <a:srgbClr val="1E5F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834640"/>
            <a:ext cx="365760" cy="365760"/>
          </a:xfrm>
          <a:prstGeom prst="ellipse">
            <a:avLst/>
          </a:prstGeom>
          <a:solidFill>
            <a:srgbClr val="1E5F4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-5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4041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access via Marketplace from $100. Homeowners pledge equity via YieldDeed, retaining the deed.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60920" y="2606040"/>
            <a:ext cx="822960" cy="822960"/>
          </a:xfrm>
          <a:prstGeom prst="ellipse">
            <a:avLst/>
          </a:prstGeom>
          <a:solidFill>
            <a:srgbClr val="FAFBF9"/>
          </a:solidFill>
          <a:ln w="25400">
            <a:solidFill>
              <a:srgbClr val="1E5F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834640"/>
            <a:ext cx="365760" cy="365760"/>
          </a:xfrm>
          <a:prstGeom prst="ellipse">
            <a:avLst/>
          </a:prstGeom>
          <a:solidFill>
            <a:srgbClr val="1E5F4E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kern="0" spc="-5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4041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secondary transfer on the DEX. Real-time price discovery, sub-1.5% fees.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 R   S P E C I A L I Z A T I O 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Wedge Application.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YieldDeed.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tokenize equity, earn yield, retain the deed — an alternative to HELOC, reverse mortgage, and HEA.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6949440" cy="18288"/>
          </a:xfrm>
          <a:prstGeom prst="rect">
            <a:avLst/>
          </a:prstGeom>
          <a:solidFill>
            <a:srgbClr val="6BAE94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2624328"/>
            <a:ext cx="822960" cy="822960"/>
          </a:xfrm>
          <a:prstGeom prst="ellipse">
            <a:avLst/>
          </a:prstGeom>
          <a:solidFill>
            <a:srgbClr val="0F4030"/>
          </a:solidFill>
          <a:ln w="25400">
            <a:solidFill>
              <a:srgbClr val="6BAE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852928"/>
            <a:ext cx="365760" cy="365760"/>
          </a:xfrm>
          <a:prstGeom prst="ellipse">
            <a:avLst/>
          </a:prstGeom>
          <a:solidFill>
            <a:srgbClr val="6BAE94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kern="0" spc="-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1,000 DEED tokens representing 100% of net equity. Deed never moves; title stays with owner.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2624328"/>
            <a:ext cx="822960" cy="822960"/>
          </a:xfrm>
          <a:prstGeom prst="ellipse">
            <a:avLst/>
          </a:prstGeom>
          <a:solidFill>
            <a:srgbClr val="0F4030"/>
          </a:solidFill>
          <a:ln w="25400">
            <a:solidFill>
              <a:srgbClr val="6BAE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852928"/>
            <a:ext cx="365760" cy="365760"/>
          </a:xfrm>
          <a:prstGeom prst="ellipse">
            <a:avLst/>
          </a:prstGeom>
          <a:solidFill>
            <a:srgbClr val="6BAE9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kern="0" spc="-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Pledge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51760" y="40050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pledges 60–80% of tokens as non-recourse collateral. Unpledged tokens remain unencumbered.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2624328"/>
            <a:ext cx="822960" cy="822960"/>
          </a:xfrm>
          <a:prstGeom prst="ellipse">
            <a:avLst/>
          </a:prstGeom>
          <a:solidFill>
            <a:srgbClr val="0F4030"/>
          </a:solidFill>
          <a:ln w="25400">
            <a:solidFill>
              <a:srgbClr val="6BAE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2852928"/>
            <a:ext cx="365760" cy="365760"/>
          </a:xfrm>
          <a:prstGeom prst="ellipse">
            <a:avLst/>
          </a:prstGeom>
          <a:solidFill>
            <a:srgbClr val="6BAE9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kern="0" spc="-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54880" y="40050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advanced against tokenized collateral, deployed into DeedRiver Capital fund (8% target gross).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60920" y="2624328"/>
            <a:ext cx="822960" cy="822960"/>
          </a:xfrm>
          <a:prstGeom prst="ellipse">
            <a:avLst/>
          </a:prstGeom>
          <a:solidFill>
            <a:srgbClr val="0F4030"/>
          </a:solidFill>
          <a:ln w="25400">
            <a:solidFill>
              <a:srgbClr val="6BAE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2852928"/>
            <a:ext cx="365760" cy="365760"/>
          </a:xfrm>
          <a:prstGeom prst="ellipse">
            <a:avLst/>
          </a:prstGeom>
          <a:solidFill>
            <a:srgbClr val="6BAE94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kern="0" spc="-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58000" y="40050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distribute quarterly, net of fees. Withdraw, reinvest, or exit any time.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590288"/>
            <a:ext cx="8229600" cy="10973"/>
          </a:xfrm>
          <a:prstGeom prst="rect">
            <a:avLst/>
          </a:prstGeom>
          <a:solidFill>
            <a:srgbClr val="6BAE9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Generates origination, AUM, and rental-skim revenue from day one — no DEX order flow required.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C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C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H Y   N O 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perfect storm.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18–30 month window before institutions dominate.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060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UNLOCK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Clearest signal in a decade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Act cleared Senate Banking 15-9 (May 14, 2026)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Act signed July 2025 — first federal stablecoin law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DAO LLC + digital asset statutes operational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fully applicable in EU; UAE / HK / SG 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060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VALIDATION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names are on-chain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BUIDL — peaked at $2.9B AUM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MONY launched on Ethereum, $100M seeded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FDIT tokenized Treasury surpassed $250M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Apollo, KKR, Hamilton Lane tokenizing via Securitize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26060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2221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WINDOW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 is the next leg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301752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grew 380% to $24B in 2025 — fastest crypto sector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at $250M vs. Treasuries at $7.5B — runway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institutional RE bonds launched Sept 2025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are likely to acquire early movers at 20×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590288"/>
            <a:ext cx="82296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fintech problem disguised as a blockchain problem. Whoever moves first becomes the acquisition target.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  O P P O R T U N I T 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multi-trillion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dollar asset class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going on-chain.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07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8529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real estate — the largest asset class on Earth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93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538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4048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real estate by 2030 (BCG/ADDX projection)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793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4224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84048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Y7 target AUM — Marketplace + YieldDeed combined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S I N E S S   M O D E 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revenue streams.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revenue compounds with AUM.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931920"/>
            <a:ext cx="8229600" cy="10973"/>
          </a:xfrm>
          <a:prstGeom prst="rect">
            <a:avLst/>
          </a:prstGeom>
          <a:solidFill>
            <a:srgbClr val="D5E2D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14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1.5–3% at tokenization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03120" y="2468880"/>
            <a:ext cx="10973" cy="1371600"/>
          </a:xfrm>
          <a:prstGeom prst="rect">
            <a:avLst/>
          </a:prstGeom>
          <a:solidFill>
            <a:srgbClr val="D5E2D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514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Management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14884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1.1–1.25% annual on AUM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749040" y="2468880"/>
            <a:ext cx="10973" cy="1371600"/>
          </a:xfrm>
          <a:prstGeom prst="rect">
            <a:avLst/>
          </a:prstGeom>
          <a:solidFill>
            <a:srgbClr val="D5E2D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514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Rental Skim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79476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of gross rental income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394960" y="2468880"/>
            <a:ext cx="10973" cy="1371600"/>
          </a:xfrm>
          <a:prstGeom prst="rect">
            <a:avLst/>
          </a:prstGeom>
          <a:solidFill>
            <a:srgbClr val="D5E2D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5146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Market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4068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 per side on DEX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040880" y="2468880"/>
            <a:ext cx="10973" cy="1371600"/>
          </a:xfrm>
          <a:prstGeom prst="rect">
            <a:avLst/>
          </a:prstGeom>
          <a:solidFill>
            <a:srgbClr val="D5E2DC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5146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/ Data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086600" y="3355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tokenization-as-a-service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~3.2%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45720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 rate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2600" dirty="0"/>
          </a:p>
        </p:txBody>
      </p:sp>
      <p:sp>
        <p:nvSpPr>
          <p:cNvPr id="30" name="Text 23"/>
          <p:cNvSpPr/>
          <p:nvPr/>
        </p:nvSpPr>
        <p:spPr>
          <a:xfrm>
            <a:off x="320040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mix by Y7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9436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5943600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at scale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 A C T I O 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Live.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the pilot.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4114800" cy="10973"/>
          </a:xfrm>
          <a:prstGeom prst="rect">
            <a:avLst/>
          </a:prstGeom>
          <a:solidFill>
            <a:srgbClr val="1E5F4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596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DAO LLC + Delaware C-Corp formed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436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MVP — investor portal functional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5526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deployed on testnet (ERC-3643)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D 506(c) compliance framework live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7705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property under LOI — Wyoming pilot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87952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7240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closing  ·  target $3–5M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5029200" y="2194560"/>
            <a:ext cx="3657600" cy="2286000"/>
          </a:xfrm>
          <a:prstGeom prst="rect">
            <a:avLst/>
          </a:prstGeom>
          <a:solidFill>
            <a:srgbClr val="0F4030"/>
          </a:solidFill>
          <a:ln/>
        </p:spPr>
      </p:sp>
      <p:sp>
        <p:nvSpPr>
          <p:cNvPr id="21" name="Shape 13"/>
          <p:cNvSpPr/>
          <p:nvPr/>
        </p:nvSpPr>
        <p:spPr>
          <a:xfrm>
            <a:off x="5029200" y="2194560"/>
            <a:ext cx="3657600" cy="36576"/>
          </a:xfrm>
          <a:prstGeom prst="rect">
            <a:avLst/>
          </a:prstGeom>
          <a:solidFill>
            <a:srgbClr val="6BAE94"/>
          </a:solidFill>
          <a:ln/>
        </p:spPr>
      </p:sp>
      <p:sp>
        <p:nvSpPr>
          <p:cNvPr id="22" name="Text 14"/>
          <p:cNvSpPr/>
          <p:nvPr/>
        </p:nvSpPr>
        <p:spPr>
          <a:xfrm>
            <a:off x="530352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TODAY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530352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16"/>
          <p:cNvSpPr/>
          <p:nvPr/>
        </p:nvSpPr>
        <p:spPr>
          <a:xfrm>
            <a:off x="530352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identified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685800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$7.1M</a:t>
            </a:r>
            <a:endParaRPr lang="en-US" sz="2800" dirty="0"/>
          </a:p>
        </p:txBody>
      </p:sp>
      <p:sp>
        <p:nvSpPr>
          <p:cNvPr id="26" name="Text 18"/>
          <p:cNvSpPr/>
          <p:nvPr/>
        </p:nvSpPr>
        <p:spPr>
          <a:xfrm>
            <a:off x="685800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value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530352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711K</a:t>
            </a:r>
            <a:endParaRPr lang="en-US" sz="2800" dirty="0"/>
          </a:p>
        </p:txBody>
      </p:sp>
      <p:sp>
        <p:nvSpPr>
          <p:cNvPr id="28" name="Text 20"/>
          <p:cNvSpPr/>
          <p:nvPr/>
        </p:nvSpPr>
        <p:spPr>
          <a:xfrm>
            <a:off x="530352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 tokens issuable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858000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</a:t>
            </a:r>
            <a:endParaRPr lang="en-US" sz="2800" dirty="0"/>
          </a:p>
        </p:txBody>
      </p:sp>
      <p:sp>
        <p:nvSpPr>
          <p:cNvPr id="30" name="Text 22"/>
          <p:cNvSpPr/>
          <p:nvPr/>
        </p:nvSpPr>
        <p:spPr>
          <a:xfrm>
            <a:off x="685800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investment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launches with seed capital. Interest list active. Counsel engaged.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33" name="Text 25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   T O   M A R K E 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sides.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originates assets. Demand provides capital.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62856" y="2194560"/>
            <a:ext cx="10973" cy="2331720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94560"/>
            <a:ext cx="39776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assets come from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TODAY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(Y1–Y2)  ·  Foundation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Ground-up development projects ($10M–$100M GDV)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homes — YieldDeed wedge application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Wyoming-first; existing SPV structures; accredited-only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397764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78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(Y2–Y3)  ·  </a:t>
            </a:r>
            <a:r>
              <a:rPr lang="en-US" sz="900" i="1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+ Corporate Conversations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42428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(Y3–Y4)  ·  </a:t>
            </a:r>
            <a:r>
              <a:rPr lang="en-US" sz="900" i="1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Single-Family Portfolios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44074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(Y4+)  ·  </a:t>
            </a:r>
            <a:r>
              <a:rPr lang="en-US" sz="900" i="1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Platform-of-Platforms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397764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2860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248716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capital comes from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2724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TODAY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29443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(Y1–Y2)  ·  Accredited US Investors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32461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D 506(c) — $25K–$500K average ticket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RIAs, family offices, HNW crypto networks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Capital fund seeds YieldDeed demand-side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4023360"/>
            <a:ext cx="397764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078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(Y2–Y3)  ·  </a:t>
            </a:r>
            <a:r>
              <a:rPr lang="en-US" sz="900" i="1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A+ Retail Unlock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09160" y="424281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(Y3–Y4)  ·  </a:t>
            </a:r>
            <a:r>
              <a:rPr lang="en-US" sz="900" i="1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+ International Capital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09160" y="44074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(Y4+)  ·  </a:t>
            </a:r>
            <a:r>
              <a:rPr lang="en-US" sz="900" i="1" dirty="0">
                <a:solidFill>
                  <a:srgbClr val="8F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Platform Liquidity at Scale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4590288"/>
            <a:ext cx="82296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accounting automation makes per-property unit economics work at any scale.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M P E T I T I V E   L A N D S C A P 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what others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can't deliver.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18288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57984"/>
            <a:ext cx="246888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2157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21579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Mtg.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1579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157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21579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9144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2532888"/>
            <a:ext cx="1737360" cy="2340864"/>
          </a:xfrm>
          <a:prstGeom prst="rect">
            <a:avLst/>
          </a:prstGeom>
          <a:solidFill>
            <a:srgbClr val="E8F2E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20924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 payment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2532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5328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5328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532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25328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113532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825496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Non-recourse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2825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28254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825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825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8254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406140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18104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 retained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26080" y="3118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1181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118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118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7200" y="3698748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410712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appreciation give-up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3410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34107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34107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0" y="3410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9440" y="34107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3991356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liquidity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926080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931920" y="3703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3703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3703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949440" y="3703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7200" y="4283964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995928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market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926080" y="3995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931920" y="39959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0" y="39959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3995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49440" y="39959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57200" y="4576572"/>
            <a:ext cx="8229600" cy="4572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288536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Sub-1.5% fees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926080" y="4288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931920" y="42885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29200" y="42885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943600" y="4288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49440" y="4288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57200" y="4581144"/>
            <a:ext cx="246888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back-office accounting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926080" y="4581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931920" y="45811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029200" y="4581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943600" y="45811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949440" y="45811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57200" y="4873752"/>
            <a:ext cx="8229600" cy="9144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71" name="Shape 69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A 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 who've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kern="0" spc="-10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infrastructure.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0" y="2286000"/>
            <a:ext cx="10973" cy="2194560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3931920" cy="10973"/>
          </a:xfrm>
          <a:prstGeom prst="rect">
            <a:avLst/>
          </a:prstGeom>
          <a:solidFill>
            <a:srgbClr val="1E5F4E"/>
          </a:solidFill>
          <a:ln/>
        </p:spPr>
      </p:sp>
      <p:pic>
        <p:nvPicPr>
          <p:cNvPr id="8" name="Iosif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1005840" cy="1005840"/>
          </a:xfrm>
          <a:prstGeom prst="ellipse">
            <a:avLst/>
          </a:prstGeom>
          <a:ln w="19050">
            <a:solidFill>
              <a:srgbClr val="1E5F4E"/>
            </a:solidFill>
            <a:prstDash val="solid"/>
          </a:ln>
        </p:spPr>
      </p:pic>
      <p:sp>
        <p:nvSpPr>
          <p:cNvPr id="10" name="Text 8"/>
          <p:cNvSpPr/>
          <p:nvPr/>
        </p:nvSpPr>
        <p:spPr>
          <a:xfrm>
            <a:off x="164592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Iosif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4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CTO of BFAM Partners — scaled the institutional Asia hedge fund from $0 to peak $5B AUM. Built the trading infrastructure and fund operations now being applied to tokenized real estate at DeedRiver.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3931920" cy="10973"/>
          </a:xfrm>
          <a:prstGeom prst="rect">
            <a:avLst/>
          </a:prstGeom>
          <a:solidFill>
            <a:srgbClr val="1E5F4E"/>
          </a:solidFill>
          <a:ln/>
        </p:spPr>
      </p:sp>
      <p:pic>
        <p:nvPicPr>
          <p:cNvPr id="14" name="Joseph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560320"/>
            <a:ext cx="1005840" cy="1005840"/>
          </a:xfrm>
          <a:prstGeom prst="ellipse">
            <a:avLst/>
          </a:prstGeom>
          <a:ln w="19050">
            <a:solidFill>
              <a:srgbClr val="1E5F4E"/>
            </a:solidFill>
            <a:prstDash val="solid"/>
          </a:ln>
        </p:spPr>
      </p:pic>
      <p:sp>
        <p:nvSpPr>
          <p:cNvPr id="16" name="Text 14"/>
          <p:cNvSpPr/>
          <p:nvPr/>
        </p:nvSpPr>
        <p:spPr>
          <a:xfrm>
            <a:off x="5943600" y="26700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4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COO / CFO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749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Multi-time founder. Product, capital formation, and platform strategy. Led structuring of the DeedRiver pilot and regulatory framework.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Securities counsel engaged  ·  Wyoming structure validated  ·  Custody partner pipeline in place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R A J E C T O R 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8321040" y="411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7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$1B AUM.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kern="0" spc="-50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legislation is the inflection.</a:t>
            </a:r>
            <a:endParaRPr lang="en-US" sz="2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94560"/>
          <a:ext cx="48463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63440"/>
            <a:ext cx="484632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6908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kern="0" spc="3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Platform AUM ($M)  ·  Y1 → Y7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2212848"/>
            <a:ext cx="32004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1 – Y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0" y="2423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 D 506(c) launch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0" y="2624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properties tokenized; Reg A+ filing initiated.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0" y="2834640"/>
            <a:ext cx="3200400" cy="10973"/>
          </a:xfrm>
          <a:prstGeom prst="rect">
            <a:avLst/>
          </a:prstGeom>
          <a:solidFill>
            <a:srgbClr val="1E5F4E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8895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86400" y="3044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E5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Legislation inflection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0" y="3246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framework eliminates per-property LLC. Margins expand.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0" y="3456432"/>
            <a:ext cx="32004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0" y="35112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4 – Y 5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86400" y="3666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+ retail unlock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0" y="3867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DeedFlow at scale; secondary market live; institutional LP product.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0" y="4078224"/>
            <a:ext cx="32004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0" y="4133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6 – Y 7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486400" y="42885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 AUM + profitability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0" y="44897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EBITDA-positive; SaaS/B2B platform GA; exit pathway formalized.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0" y="4700016"/>
            <a:ext cx="3200400" cy="10973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" y="4864608"/>
            <a:ext cx="8229600" cy="7315"/>
          </a:xfrm>
          <a:prstGeom prst="rect">
            <a:avLst/>
          </a:prstGeom>
          <a:solidFill>
            <a:srgbClr val="D5E2DC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  ·  Seed Round  ·  Confidential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72400" y="4919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B7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9144000" cy="342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0624"/>
            <a:ext cx="32918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384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DeedRiver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57200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Accredited Investors Only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0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A S K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-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$3–5M.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@ $15–25M post.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 the Wyoming pilot, complete Reg A+ Tier 2 qualification,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scale property origination through Year 2.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749040"/>
            <a:ext cx="8229600" cy="10973"/>
          </a:xfrm>
          <a:prstGeom prst="rect">
            <a:avLst/>
          </a:prstGeom>
          <a:solidFill>
            <a:srgbClr val="6BAE9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3822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6BA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5720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platform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56032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256032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legal, Reg A+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634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466344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origination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6656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kern="0" spc="-100" dirty="0">
                <a:solidFill>
                  <a:srgbClr val="6BAE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676656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IR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kern="0" spc="300" dirty="0">
                <a:solidFill>
                  <a:srgbClr val="9C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deedriver.com  ·  Securities offered under Reg D 506(c)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1717</Words>
  <Application>Microsoft Macintosh PowerPoint</Application>
  <PresentationFormat>On-screen Show (16:9)</PresentationFormat>
  <Paragraphs>348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DeedRiver — Seed Round</dc:title>
  <dc:subject>PptxGenJS Presentation</dc:subject>
  <dc:creator>DeedRiver</dc:creator>
  <cp:lastModifiedBy>Joseph Laviolette</cp:lastModifiedBy>
  <cp:revision>2</cp:revision>
  <dcterms:created xsi:type="dcterms:W3CDTF">2026-05-24T22:21:12Z</dcterms:created>
  <dcterms:modified xsi:type="dcterms:W3CDTF">2026-05-25T16:40:50Z</dcterms:modified>
</cp:coreProperties>
</file>